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5"/>
    <p:sldMasterId id="2147483673" r:id="rId6"/>
    <p:sldMasterId id="2147483674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y="5143500" cx="9144000"/>
  <p:notesSz cx="6858000" cy="9144000"/>
  <p:embeddedFontLst>
    <p:embeddedFont>
      <p:font typeface="Inter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Arial Black"/>
      <p:regular r:id="rId25"/>
    </p:embeddedFont>
    <p:embeddedFont>
      <p:font typeface="Poppins SemiBol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E90F64-92A3-4A45-8231-398E54FC8131}">
  <a:tblStyle styleId="{E2E90F64-92A3-4A45-8231-398E54FC81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ED0237D2-B215-4E70-8B16-38BDF1FEF17A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PoppinsSemiBold-regular.fntdata"/><Relationship Id="rId25" Type="http://schemas.openxmlformats.org/officeDocument/2006/relationships/font" Target="fonts/ArialBlack-regular.fntdata"/><Relationship Id="rId28" Type="http://schemas.openxmlformats.org/officeDocument/2006/relationships/font" Target="fonts/PoppinsSemiBold-italic.fntdata"/><Relationship Id="rId27" Type="http://schemas.openxmlformats.org/officeDocument/2006/relationships/font" Target="fonts/PoppinsSemiBold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oppinsSemiBold-boldItalic.fnt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font" Target="fonts/Inter-regular.fntdata"/><Relationship Id="rId16" Type="http://schemas.openxmlformats.org/officeDocument/2006/relationships/slide" Target="slides/slide8.xml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ce2d4d245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ece2d4d245_2_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ece2d4d24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ece2d4d24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ce2d4d245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ece2d4d245_0_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ece2d4d245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ece2d4d245_2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ece2d4d245_2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9950" lIns="49950" spcFirstLastPara="1" rIns="49950" wrap="square" tIns="49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ece2d4d245_2_5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ce2d4d245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ece2d4d245_0_1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ece2d4d245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ece2d4d245_0_2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ece2d4d245_0_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3ece2d4d245_0_3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168116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>
            <p:ph type="title"/>
          </p:nvPr>
        </p:nvSpPr>
        <p:spPr>
          <a:xfrm>
            <a:off x="1128292" y="501713"/>
            <a:ext cx="6887416" cy="362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75" y="1076325"/>
            <a:ext cx="80963" cy="8096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5"/>
          <p:cNvSpPr txBox="1"/>
          <p:nvPr>
            <p:ph type="title"/>
          </p:nvPr>
        </p:nvSpPr>
        <p:spPr>
          <a:xfrm>
            <a:off x="1128292" y="501713"/>
            <a:ext cx="6887416" cy="362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901501" y="916241"/>
            <a:ext cx="7669530" cy="32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1128292" y="501713"/>
            <a:ext cx="6887416" cy="362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797629" y="1129786"/>
            <a:ext cx="3396932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9" name="Google Shape;89;p19"/>
          <p:cNvSpPr txBox="1"/>
          <p:nvPr>
            <p:ph idx="12" type="sldNum"/>
          </p:nvPr>
        </p:nvSpPr>
        <p:spPr>
          <a:xfrm>
            <a:off x="4914900" y="4767263"/>
            <a:ext cx="160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 type="obj">
  <p:cSld name="OBJECT">
    <p:bg>
      <p:bgPr>
        <a:solidFill>
          <a:schemeClr val="l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9" cy="168116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1"/>
          <p:cNvSpPr txBox="1"/>
          <p:nvPr>
            <p:ph type="title"/>
          </p:nvPr>
        </p:nvSpPr>
        <p:spPr>
          <a:xfrm>
            <a:off x="1128292" y="501713"/>
            <a:ext cx="6887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"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14375" y="1076325"/>
            <a:ext cx="80963" cy="8096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 txBox="1"/>
          <p:nvPr>
            <p:ph type="title"/>
          </p:nvPr>
        </p:nvSpPr>
        <p:spPr>
          <a:xfrm>
            <a:off x="1128292" y="501713"/>
            <a:ext cx="6887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" type="body"/>
          </p:nvPr>
        </p:nvSpPr>
        <p:spPr>
          <a:xfrm>
            <a:off x="901501" y="916241"/>
            <a:ext cx="7669500" cy="3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7" name="Google Shape;107;p22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/>
          <p:nvPr>
            <p:ph type="ctrTitle"/>
          </p:nvPr>
        </p:nvSpPr>
        <p:spPr>
          <a:xfrm>
            <a:off x="685800" y="1594485"/>
            <a:ext cx="77724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6" name="Google Shape;116;p24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>
            <p:ph type="title"/>
          </p:nvPr>
        </p:nvSpPr>
        <p:spPr>
          <a:xfrm>
            <a:off x="1128292" y="501713"/>
            <a:ext cx="6887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5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2" name="Google Shape;122;p25"/>
          <p:cNvSpPr txBox="1"/>
          <p:nvPr>
            <p:ph idx="2" type="body"/>
          </p:nvPr>
        </p:nvSpPr>
        <p:spPr>
          <a:xfrm>
            <a:off x="4797629" y="1129786"/>
            <a:ext cx="33969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6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5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idx="10" type="dt"/>
          </p:nvPr>
        </p:nvSpPr>
        <p:spPr>
          <a:xfrm>
            <a:off x="342900" y="4767263"/>
            <a:ext cx="1600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8" name="Google Shape;128;p26"/>
          <p:cNvSpPr txBox="1"/>
          <p:nvPr>
            <p:ph idx="11" type="ftr"/>
          </p:nvPr>
        </p:nvSpPr>
        <p:spPr>
          <a:xfrm>
            <a:off x="2343150" y="4767263"/>
            <a:ext cx="2171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9" name="Google Shape;129;p26"/>
          <p:cNvSpPr txBox="1"/>
          <p:nvPr>
            <p:ph idx="12" type="sldNum"/>
          </p:nvPr>
        </p:nvSpPr>
        <p:spPr>
          <a:xfrm>
            <a:off x="4914900" y="4767263"/>
            <a:ext cx="16002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>
  <p:cSld name="Title and Content (g3ece2d4d245_16_0)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7"/>
          <p:cNvSpPr txBox="1"/>
          <p:nvPr>
            <p:ph type="title"/>
          </p:nvPr>
        </p:nvSpPr>
        <p:spPr>
          <a:xfrm>
            <a:off x="1128292" y="501713"/>
            <a:ext cx="6887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2" name="Google Shape;132;p27"/>
          <p:cNvSpPr txBox="1"/>
          <p:nvPr>
            <p:ph idx="1" type="body"/>
          </p:nvPr>
        </p:nvSpPr>
        <p:spPr>
          <a:xfrm>
            <a:off x="901501" y="916241"/>
            <a:ext cx="7669500" cy="3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3" name="Google Shape;133;p27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4" name="Google Shape;134;p2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128292" y="501713"/>
            <a:ext cx="6887416" cy="3626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901501" y="916241"/>
            <a:ext cx="7669530" cy="32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type="title"/>
          </p:nvPr>
        </p:nvSpPr>
        <p:spPr>
          <a:xfrm>
            <a:off x="1128292" y="501713"/>
            <a:ext cx="6887400" cy="3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23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92" name="Google Shape;92;p20"/>
          <p:cNvSpPr txBox="1"/>
          <p:nvPr>
            <p:ph idx="1" type="body"/>
          </p:nvPr>
        </p:nvSpPr>
        <p:spPr>
          <a:xfrm>
            <a:off x="901501" y="916241"/>
            <a:ext cx="7669500" cy="32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94" name="Google Shape;94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 sz="9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95" name="Google Shape;95;p20"/>
          <p:cNvSpPr txBox="1"/>
          <p:nvPr>
            <p:ph idx="12" type="sldNum"/>
          </p:nvPr>
        </p:nvSpPr>
        <p:spPr>
          <a:xfrm>
            <a:off x="6583680" y="4783455"/>
            <a:ext cx="2103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5.jpg"/><Relationship Id="rId6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11" Type="http://schemas.openxmlformats.org/officeDocument/2006/relationships/image" Target="../media/image13.png"/><Relationship Id="rId10" Type="http://schemas.openxmlformats.org/officeDocument/2006/relationships/image" Target="../media/image25.png"/><Relationship Id="rId12" Type="http://schemas.openxmlformats.org/officeDocument/2006/relationships/image" Target="../media/image14.png"/><Relationship Id="rId9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8.png"/><Relationship Id="rId11" Type="http://schemas.openxmlformats.org/officeDocument/2006/relationships/image" Target="../media/image21.png"/><Relationship Id="rId10" Type="http://schemas.openxmlformats.org/officeDocument/2006/relationships/image" Target="../media/image29.png"/><Relationship Id="rId12" Type="http://schemas.openxmlformats.org/officeDocument/2006/relationships/image" Target="../media/image23.png"/><Relationship Id="rId9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26.png"/><Relationship Id="rId7" Type="http://schemas.openxmlformats.org/officeDocument/2006/relationships/image" Target="../media/image24.png"/><Relationship Id="rId8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419100" y="2429083"/>
            <a:ext cx="8305799" cy="2853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50">
            <a:spAutoFit/>
          </a:bodyPr>
          <a:lstStyle/>
          <a:p>
            <a:pPr indent="0" lvl="0" marL="127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Skin Cancer Detection using Multimodal Deep Learning Approaches</a:t>
            </a:r>
            <a:endParaRPr b="1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8"/>
          <p:cNvSpPr txBox="1"/>
          <p:nvPr/>
        </p:nvSpPr>
        <p:spPr>
          <a:xfrm>
            <a:off x="2673563" y="2113732"/>
            <a:ext cx="3796873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(CM653PC)Industrial Oriented Mini Project</a:t>
            </a:r>
            <a:endParaRPr sz="700"/>
          </a:p>
        </p:txBody>
      </p:sp>
      <p:sp>
        <p:nvSpPr>
          <p:cNvPr id="142" name="Google Shape;142;p28"/>
          <p:cNvSpPr txBox="1"/>
          <p:nvPr/>
        </p:nvSpPr>
        <p:spPr>
          <a:xfrm>
            <a:off x="5867400" y="3201046"/>
            <a:ext cx="24810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Name of the Mentor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8"/>
          <p:cNvSpPr txBox="1"/>
          <p:nvPr/>
        </p:nvSpPr>
        <p:spPr>
          <a:xfrm>
            <a:off x="4229100" y="3524250"/>
            <a:ext cx="575762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J Sreedevi</a:t>
            </a:r>
            <a:endParaRPr sz="700"/>
          </a:p>
        </p:txBody>
      </p:sp>
      <p:sp>
        <p:nvSpPr>
          <p:cNvPr id="144" name="Google Shape;144;p28"/>
          <p:cNvSpPr txBox="1"/>
          <p:nvPr/>
        </p:nvSpPr>
        <p:spPr>
          <a:xfrm>
            <a:off x="3143249" y="3201046"/>
            <a:ext cx="232410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Name of Student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8"/>
          <p:cNvSpPr txBox="1"/>
          <p:nvPr/>
        </p:nvSpPr>
        <p:spPr>
          <a:xfrm>
            <a:off x="3535552" y="3531591"/>
            <a:ext cx="16764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Mutluri Naga Jaideep Chowdary</a:t>
            </a:r>
            <a:endParaRPr sz="700"/>
          </a:p>
        </p:txBody>
      </p:sp>
      <p:sp>
        <p:nvSpPr>
          <p:cNvPr id="146" name="Google Shape;146;p28"/>
          <p:cNvSpPr txBox="1"/>
          <p:nvPr/>
        </p:nvSpPr>
        <p:spPr>
          <a:xfrm>
            <a:off x="1173350" y="3201046"/>
            <a:ext cx="1600201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Roll No.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28"/>
          <p:cNvSpPr txBox="1"/>
          <p:nvPr/>
        </p:nvSpPr>
        <p:spPr>
          <a:xfrm>
            <a:off x="712278" y="3524250"/>
            <a:ext cx="2476500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23261A6633</a:t>
            </a:r>
            <a:endParaRPr sz="700"/>
          </a:p>
        </p:txBody>
      </p:sp>
      <p:sp>
        <p:nvSpPr>
          <p:cNvPr id="148" name="Google Shape;148;p28"/>
          <p:cNvSpPr txBox="1"/>
          <p:nvPr/>
        </p:nvSpPr>
        <p:spPr>
          <a:xfrm>
            <a:off x="1920176" y="1767604"/>
            <a:ext cx="4617849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imes New Roman"/>
                <a:ea typeface="Times New Roman"/>
                <a:cs typeface="Times New Roman"/>
                <a:sym typeface="Times New Roman"/>
              </a:rPr>
              <a:t>             Department of Emerging Technology</a:t>
            </a:r>
            <a:endParaRPr sz="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113866"/>
            <a:ext cx="3929063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/>
          <p:nvPr/>
        </p:nvSpPr>
        <p:spPr>
          <a:xfrm>
            <a:off x="0" y="0"/>
            <a:ext cx="9144000" cy="429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642938" y="1113866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Literature Survey: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Review of existing skin cancer detection models and their limitations.</a:t>
            </a:r>
            <a:endParaRPr sz="1100"/>
          </a:p>
        </p:txBody>
      </p:sp>
      <p:sp>
        <p:nvSpPr>
          <p:cNvPr id="157" name="Google Shape;157;p29"/>
          <p:cNvSpPr txBox="1"/>
          <p:nvPr/>
        </p:nvSpPr>
        <p:spPr>
          <a:xfrm>
            <a:off x="642938" y="1653890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Objective: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Goals for developing a robust multimodal framework.</a:t>
            </a:r>
            <a:endParaRPr sz="1100"/>
          </a:p>
        </p:txBody>
      </p:sp>
      <p:sp>
        <p:nvSpPr>
          <p:cNvPr id="158" name="Google Shape;158;p29"/>
          <p:cNvSpPr txBox="1"/>
          <p:nvPr/>
        </p:nvSpPr>
        <p:spPr>
          <a:xfrm>
            <a:off x="642938" y="2193912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Methodology: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Step-by-step approach from data sourcing to validation.</a:t>
            </a:r>
            <a:endParaRPr sz="1100"/>
          </a:p>
        </p:txBody>
      </p:sp>
      <p:sp>
        <p:nvSpPr>
          <p:cNvPr id="159" name="Google Shape;159;p29"/>
          <p:cNvSpPr txBox="1"/>
          <p:nvPr/>
        </p:nvSpPr>
        <p:spPr>
          <a:xfrm>
            <a:off x="642938" y="2733935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Proposed Solution: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Architecture detailing our level-1 and level-2 fusion techniques.</a:t>
            </a:r>
            <a:endParaRPr sz="1100"/>
          </a:p>
        </p:txBody>
      </p:sp>
      <p:sp>
        <p:nvSpPr>
          <p:cNvPr id="160" name="Google Shape;160;p29"/>
          <p:cNvSpPr txBox="1"/>
          <p:nvPr/>
        </p:nvSpPr>
        <p:spPr>
          <a:xfrm>
            <a:off x="642938" y="3273958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Results &amp; Model Performance: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Evaluation metrics and 3-fold cross-validation scores.</a:t>
            </a:r>
            <a:endParaRPr sz="1100"/>
          </a:p>
        </p:txBody>
      </p:sp>
      <p:sp>
        <p:nvSpPr>
          <p:cNvPr id="161" name="Google Shape;161;p29"/>
          <p:cNvSpPr txBox="1"/>
          <p:nvPr/>
        </p:nvSpPr>
        <p:spPr>
          <a:xfrm>
            <a:off x="642938" y="3813981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Sample Predictions &amp; Analysis: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Model outputs and feature importance via SHAP.</a:t>
            </a:r>
            <a:endParaRPr sz="1100"/>
          </a:p>
        </p:txBody>
      </p:sp>
      <p:sp>
        <p:nvSpPr>
          <p:cNvPr id="162" name="Google Shape;162;p29"/>
          <p:cNvSpPr txBox="1"/>
          <p:nvPr/>
        </p:nvSpPr>
        <p:spPr>
          <a:xfrm>
            <a:off x="642938" y="4354004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Conclusion &amp; Future Scope: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Key takeaways and next steps for the research.</a:t>
            </a:r>
            <a:endParaRPr sz="1100"/>
          </a:p>
        </p:txBody>
      </p:sp>
      <p:pic>
        <p:nvPicPr>
          <p:cNvPr id="163" name="Google Shape;163;p29"/>
          <p:cNvPicPr preferRelativeResize="0"/>
          <p:nvPr/>
        </p:nvPicPr>
        <p:blipFill rotWithShape="1">
          <a:blip r:embed="rId5">
            <a:alphaModFix/>
          </a:blip>
          <a:srcRect b="199" l="0" r="0" t="189"/>
          <a:stretch/>
        </p:blipFill>
        <p:spPr>
          <a:xfrm>
            <a:off x="4793456" y="1121010"/>
            <a:ext cx="3914775" cy="284101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9"/>
          <p:cNvSpPr txBox="1"/>
          <p:nvPr/>
        </p:nvSpPr>
        <p:spPr>
          <a:xfrm>
            <a:off x="428625" y="292335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Agenda Overview</a:t>
            </a:r>
            <a:endParaRPr sz="1100"/>
          </a:p>
        </p:txBody>
      </p:sp>
      <p:sp>
        <p:nvSpPr>
          <p:cNvPr id="165" name="Google Shape;165;p29"/>
          <p:cNvSpPr/>
          <p:nvPr/>
        </p:nvSpPr>
        <p:spPr>
          <a:xfrm>
            <a:off x="428625" y="813829"/>
            <a:ext cx="82869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6" name="Google Shape;166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1128154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1668177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2208200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2748223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3288245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3828269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4368291"/>
            <a:ext cx="71438" cy="11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7" name="Google Shape;1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553207"/>
            <a:ext cx="2619412" cy="2901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2349" y="1553207"/>
            <a:ext cx="2619412" cy="29014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74" y="1553207"/>
            <a:ext cx="2619412" cy="290147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0"/>
          <p:cNvSpPr/>
          <p:nvPr/>
        </p:nvSpPr>
        <p:spPr>
          <a:xfrm>
            <a:off x="0" y="0"/>
            <a:ext cx="9144000" cy="429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2" name="Google Shape;18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081" y="177466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0"/>
          <p:cNvSpPr txBox="1"/>
          <p:nvPr/>
        </p:nvSpPr>
        <p:spPr>
          <a:xfrm>
            <a:off x="650081" y="2489039"/>
            <a:ext cx="185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Develop Framework</a:t>
            </a:r>
            <a:endParaRPr sz="1100"/>
          </a:p>
        </p:txBody>
      </p:sp>
      <p:sp>
        <p:nvSpPr>
          <p:cNvPr id="184" name="Google Shape;184;p30"/>
          <p:cNvSpPr txBox="1"/>
          <p:nvPr/>
        </p:nvSpPr>
        <p:spPr>
          <a:xfrm>
            <a:off x="650081" y="2846226"/>
            <a:ext cx="2176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design and develop a robust multimodal deep learning framework capable of accurately classifying </a:t>
            </a:r>
            <a:r>
              <a:rPr b="1" i="0" lang="en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11 distinct skin lesion categories</a:t>
            </a:r>
            <a:r>
              <a:rPr b="0" i="0" lang="en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moving beyond traditional binary or single-modality classification systems.</a:t>
            </a:r>
            <a:endParaRPr sz="1100"/>
          </a:p>
        </p:txBody>
      </p:sp>
      <p:pic>
        <p:nvPicPr>
          <p:cNvPr descr="image.png" id="185" name="Google Shape;185;p3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3805" y="177466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0"/>
          <p:cNvSpPr txBox="1"/>
          <p:nvPr/>
        </p:nvSpPr>
        <p:spPr>
          <a:xfrm>
            <a:off x="3483806" y="2489039"/>
            <a:ext cx="144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Fuse Modalities</a:t>
            </a:r>
            <a:endParaRPr sz="1100"/>
          </a:p>
        </p:txBody>
      </p:sp>
      <p:sp>
        <p:nvSpPr>
          <p:cNvPr id="187" name="Google Shape;187;p30"/>
          <p:cNvSpPr txBox="1"/>
          <p:nvPr/>
        </p:nvSpPr>
        <p:spPr>
          <a:xfrm>
            <a:off x="3483806" y="2846226"/>
            <a:ext cx="2176500" cy="14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effectively integrate and fuse multiple data modalities, simultaneously processing </a:t>
            </a:r>
            <a:r>
              <a:rPr b="1" i="0" lang="en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dermoscopic images, clinical close-up images, and patient metadata</a:t>
            </a:r>
            <a:r>
              <a:rPr b="0" i="0" lang="en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(age, sex, skin tone, anatomical site) using advanced cross-attention mechanisms.</a:t>
            </a:r>
            <a:endParaRPr sz="1100"/>
          </a:p>
        </p:txBody>
      </p:sp>
      <p:pic>
        <p:nvPicPr>
          <p:cNvPr descr="image.png" id="188" name="Google Shape;188;p3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17530" y="1774663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0"/>
          <p:cNvSpPr txBox="1"/>
          <p:nvPr/>
        </p:nvSpPr>
        <p:spPr>
          <a:xfrm>
            <a:off x="6317530" y="2489039"/>
            <a:ext cx="1717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Handle Imbalance</a:t>
            </a:r>
            <a:endParaRPr sz="1100"/>
          </a:p>
        </p:txBody>
      </p:sp>
      <p:sp>
        <p:nvSpPr>
          <p:cNvPr id="190" name="Google Shape;190;p30"/>
          <p:cNvSpPr txBox="1"/>
          <p:nvPr/>
        </p:nvSpPr>
        <p:spPr>
          <a:xfrm>
            <a:off x="6317530" y="2846226"/>
            <a:ext cx="2176500" cy="12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successfully navigate and handle the extreme class imbalance inherently present in real-world medical datasets, ensuring more reliable and unbiased diagnostic predictions across rare pathologies.</a:t>
            </a:r>
            <a:endParaRPr sz="1100"/>
          </a:p>
        </p:txBody>
      </p:sp>
      <p:pic>
        <p:nvPicPr>
          <p:cNvPr descr="image.png" id="191" name="Google Shape;191;p3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57238" y="1917539"/>
            <a:ext cx="357188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3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08821" y="1917539"/>
            <a:ext cx="32146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3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24687" y="1917539"/>
            <a:ext cx="357188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0"/>
          <p:cNvSpPr txBox="1"/>
          <p:nvPr/>
        </p:nvSpPr>
        <p:spPr>
          <a:xfrm>
            <a:off x="428625" y="471488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Research Objectives</a:t>
            </a:r>
            <a:endParaRPr sz="1100"/>
          </a:p>
        </p:txBody>
      </p:sp>
      <p:sp>
        <p:nvSpPr>
          <p:cNvPr id="195" name="Google Shape;195;p30"/>
          <p:cNvSpPr/>
          <p:nvPr/>
        </p:nvSpPr>
        <p:spPr>
          <a:xfrm>
            <a:off x="428625" y="992981"/>
            <a:ext cx="82869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/>
          <p:nvPr/>
        </p:nvSpPr>
        <p:spPr>
          <a:xfrm>
            <a:off x="0" y="0"/>
            <a:ext cx="9144000" cy="429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1" name="Google Shape;201;p31"/>
          <p:cNvGrpSpPr/>
          <p:nvPr/>
        </p:nvGrpSpPr>
        <p:grpSpPr>
          <a:xfrm>
            <a:off x="428550" y="148713"/>
            <a:ext cx="8286900" cy="543038"/>
            <a:chOff x="0" y="0"/>
            <a:chExt cx="8286900" cy="543038"/>
          </a:xfrm>
        </p:grpSpPr>
        <p:sp>
          <p:nvSpPr>
            <p:cNvPr id="202" name="Google Shape;202;p31"/>
            <p:cNvSpPr txBox="1"/>
            <p:nvPr/>
          </p:nvSpPr>
          <p:spPr>
            <a:xfrm>
              <a:off x="0" y="0"/>
              <a:ext cx="8286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400">
                  <a:solidFill>
                    <a:srgbClr val="0284C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Methodology</a:t>
              </a:r>
              <a:endParaRPr b="0" sz="240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  <p:sp>
          <p:nvSpPr>
            <p:cNvPr id="203" name="Google Shape;203;p31"/>
            <p:cNvSpPr/>
            <p:nvPr/>
          </p:nvSpPr>
          <p:spPr>
            <a:xfrm>
              <a:off x="0" y="528638"/>
              <a:ext cx="8286900" cy="144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4" name="Google Shape;204;p31"/>
          <p:cNvSpPr txBox="1"/>
          <p:nvPr/>
        </p:nvSpPr>
        <p:spPr>
          <a:xfrm>
            <a:off x="367925" y="2734450"/>
            <a:ext cx="39054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Feature Extraction: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Both images are processed using a </a:t>
            </a: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shared ResNet-18 encoder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producing </a:t>
            </a: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512D embeddings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while metadata is encoded using a </a:t>
            </a: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3-layer MLP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Level-1 Fusion: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Dermoscopy and clinical image features interact using </a:t>
            </a: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bidirectional cross-attention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Level-2 Fusion: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fused image representation is combined with </a:t>
            </a: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patient metadata through image-guided attention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producing the </a:t>
            </a: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final trimodal embedding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• Classification: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The final representation is a </a:t>
            </a: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fully connected classifier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to predict </a:t>
            </a: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11 skin lesion classes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4810125" y="2855825"/>
            <a:ext cx="3905400" cy="24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MILK10k Dataset : Key Points</a:t>
            </a:r>
            <a:endParaRPr b="1" sz="1400">
              <a:solidFill>
                <a:srgbClr val="1E293B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Dataset: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MILK10k released by ISIC for the 2025 challenge for skin lesion classification.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Size: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5,240 lesions with 10,480 images (each lesion has 1 dermoscopy + 1 clinical image).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Task: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11-class skin lesion classification (e.g., BCC, melanoma, nevi, vascular lesions).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Inter"/>
              <a:buChar char="●"/>
            </a:pPr>
            <a:r>
              <a:rPr b="1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Class Imbalance:</a:t>
            </a:r>
            <a:r>
              <a:rPr b="0" lang="en" sz="11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Very imbalanced dataset — BCC is ~48%, while MAL_OTH has only 9 samples (~0.17%).</a:t>
            </a:r>
            <a:endParaRPr b="0" sz="1100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6" name="Google Shape;206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375" y="844150"/>
            <a:ext cx="8500352" cy="173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1" name="Google Shape;211;p32"/>
          <p:cNvGraphicFramePr/>
          <p:nvPr/>
        </p:nvGraphicFramePr>
        <p:xfrm>
          <a:off x="7620" y="4294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{E2E90F64-92A3-4A45-8231-398E54FC8131}</a:tableStyleId>
              </a:tblPr>
              <a:tblGrid>
                <a:gridCol w="838200"/>
                <a:gridCol w="2819400"/>
                <a:gridCol w="1828800"/>
                <a:gridCol w="1828800"/>
                <a:gridCol w="1828800"/>
              </a:tblGrid>
              <a:tr h="216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Sno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/ Paper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Dataset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Metrics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EfficientNet-B4 (Codella et al., 2019)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ISIC 2019 (8 classes)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Balanced Acc: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0.563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0.891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modality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(dermoscopy only). No metadata or clinical images.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ResNet-50 + Metadata (Gessert et al., 2020)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ISIC 2020 (Binary)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0.949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Balanced Acc: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0.731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Works only for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binary classification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uses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simple feature concatenation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Multimodal DenseNet (Kawahara et al., 2018)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ISIC 2018 (7 classes)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0.871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late fusion only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without cross-modal interaction.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6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SkinNet-16 / SkinNet-41 (Mahbod et al., 2022)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SkinCon (16/41 classes)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0.798 / 0.812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Macro F1: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0.621 / 0.589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paired clinical + dermoscopy images. Concept-based but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attention mechanisms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.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Cross-Attention Fusion (Das et al., 2025)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Private Multimodal Dataset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0.961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Balanced Acc: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0.724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only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 modalities (image + text)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missing second image stream.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Vision Transformer (ViT-B baseline)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ISIC 2019 (8 classes)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Balanced Acc: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0.612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very large datasets (&gt;100K)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and lacks metadata fusion.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0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HAM-Net (Chen et al., 2021)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HAM10000 (7 classes)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Accuracy: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0.883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AUC: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0.952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Kappa: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0.812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200"/>
                        <a:buFont typeface="Times New Roman"/>
                        <a:buNone/>
                      </a:pP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Uses </a:t>
                      </a:r>
                      <a:r>
                        <a:rPr b="1"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single image modality</a:t>
                      </a:r>
                      <a:r>
                        <a:rPr lang="en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without clinical paired images.</a:t>
                      </a:r>
                      <a:endParaRPr sz="700"/>
                    </a:p>
                  </a:txBody>
                  <a:tcPr marT="20075" marB="20075" marR="40150" marL="401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32"/>
          <p:cNvSpPr txBox="1"/>
          <p:nvPr/>
        </p:nvSpPr>
        <p:spPr>
          <a:xfrm>
            <a:off x="3436593" y="0"/>
            <a:ext cx="2270814" cy="538609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sz="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293019"/>
            <a:ext cx="8286750" cy="342185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3"/>
          <p:cNvSpPr/>
          <p:nvPr/>
        </p:nvSpPr>
        <p:spPr>
          <a:xfrm>
            <a:off x="0" y="0"/>
            <a:ext cx="9144000" cy="429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0" name="Google Shape;220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2963" y="3602570"/>
            <a:ext cx="7458075" cy="90290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3"/>
          <p:cNvSpPr txBox="1"/>
          <p:nvPr/>
        </p:nvSpPr>
        <p:spPr>
          <a:xfrm>
            <a:off x="428625" y="471488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Results &amp; Model Performance</a:t>
            </a:r>
            <a:endParaRPr sz="1100"/>
          </a:p>
        </p:txBody>
      </p:sp>
      <p:sp>
        <p:nvSpPr>
          <p:cNvPr id="222" name="Google Shape;222;p33"/>
          <p:cNvSpPr/>
          <p:nvPr/>
        </p:nvSpPr>
        <p:spPr>
          <a:xfrm>
            <a:off x="428625" y="992981"/>
            <a:ext cx="82869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754572"/>
            <a:ext cx="3929063" cy="229024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4"/>
          <p:cNvSpPr/>
          <p:nvPr/>
        </p:nvSpPr>
        <p:spPr>
          <a:xfrm>
            <a:off x="0" y="0"/>
            <a:ext cx="9144000" cy="429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4"/>
          <p:cNvSpPr txBox="1"/>
          <p:nvPr/>
        </p:nvSpPr>
        <p:spPr>
          <a:xfrm>
            <a:off x="428625" y="1347378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Sample Predictions</a:t>
            </a:r>
            <a:endParaRPr sz="1100"/>
          </a:p>
        </p:txBody>
      </p:sp>
      <p:sp>
        <p:nvSpPr>
          <p:cNvPr id="231" name="Google Shape;231;p34"/>
          <p:cNvSpPr txBox="1"/>
          <p:nvPr/>
        </p:nvSpPr>
        <p:spPr>
          <a:xfrm>
            <a:off x="4786313" y="1347378"/>
            <a:ext cx="4125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SHAP Analysis - Key Findings</a:t>
            </a:r>
            <a:endParaRPr sz="1100"/>
          </a:p>
        </p:txBody>
      </p:sp>
      <p:sp>
        <p:nvSpPr>
          <p:cNvPr id="232" name="Google Shape;232;p34"/>
          <p:cNvSpPr/>
          <p:nvPr/>
        </p:nvSpPr>
        <p:spPr>
          <a:xfrm>
            <a:off x="435769" y="1761715"/>
            <a:ext cx="3914700" cy="22758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715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30000" rotWithShape="0" dir="5400000" dist="1725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p34"/>
          <p:cNvGraphicFramePr/>
          <p:nvPr/>
        </p:nvGraphicFramePr>
        <p:xfrm>
          <a:off x="435769" y="17617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{ED0237D2-B215-4E70-8B16-38BDF1FEF17A}</a:tableStyleId>
              </a:tblPr>
              <a:tblGrid>
                <a:gridCol w="1039325"/>
                <a:gridCol w="1622975"/>
                <a:gridCol w="1252500"/>
              </a:tblGrid>
              <a:tr h="3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Lesion ID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Predicted Class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900" u="none" cap="none" strike="noStrike">
                          <a:solidFill>
                            <a:srgbClr val="0F172A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Confidence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3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IL_0006205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SCCKA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97.57%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IL_0025400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AKIEC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98.84%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IL_0039001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NV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94.78%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IL_0046799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SCCKA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99.76%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379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IL_0054262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DF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" sz="8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91.23%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4" name="Google Shape;234;p34"/>
          <p:cNvSpPr txBox="1"/>
          <p:nvPr/>
        </p:nvSpPr>
        <p:spPr>
          <a:xfrm>
            <a:off x="5000625" y="1754572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MONET_pigmented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was identified as the most important feature driving the model's decisions.</a:t>
            </a:r>
            <a:endParaRPr sz="1100"/>
          </a:p>
        </p:txBody>
      </p:sp>
      <p:sp>
        <p:nvSpPr>
          <p:cNvPr id="235" name="Google Shape;235;p34"/>
          <p:cNvSpPr txBox="1"/>
          <p:nvPr/>
        </p:nvSpPr>
        <p:spPr>
          <a:xfrm>
            <a:off x="5000625" y="2294594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Vascular patterns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strongly influenced the predictive outcomes across multiple classes.</a:t>
            </a:r>
            <a:endParaRPr sz="1100"/>
          </a:p>
        </p:txBody>
      </p:sp>
      <p:sp>
        <p:nvSpPr>
          <p:cNvPr id="236" name="Google Shape;236;p34"/>
          <p:cNvSpPr txBox="1"/>
          <p:nvPr/>
        </p:nvSpPr>
        <p:spPr>
          <a:xfrm>
            <a:off x="5000625" y="2834618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Patient </a:t>
            </a: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Age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contributed significantly to the classification accuracy.</a:t>
            </a:r>
            <a:endParaRPr sz="1100"/>
          </a:p>
        </p:txBody>
      </p:sp>
      <p:sp>
        <p:nvSpPr>
          <p:cNvPr id="237" name="Google Shape;237;p34"/>
          <p:cNvSpPr txBox="1"/>
          <p:nvPr/>
        </p:nvSpPr>
        <p:spPr>
          <a:xfrm>
            <a:off x="5000625" y="3374640"/>
            <a:ext cx="371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Skin tone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lesion location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provided critical additional diagnostic context.</a:t>
            </a:r>
            <a:endParaRPr sz="1100"/>
          </a:p>
        </p:txBody>
      </p:sp>
      <p:sp>
        <p:nvSpPr>
          <p:cNvPr id="238" name="Google Shape;238;p34"/>
          <p:cNvSpPr txBox="1"/>
          <p:nvPr/>
        </p:nvSpPr>
        <p:spPr>
          <a:xfrm>
            <a:off x="5000625" y="3914663"/>
            <a:ext cx="3714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Integrating metadata demonstrably improved overall classification performance, validating the effectiveness of </a:t>
            </a:r>
            <a:r>
              <a:rPr b="1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multimodal learning</a:t>
            </a:r>
            <a:r>
              <a:rPr b="0" i="0" lang="en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239" name="Google Shape;239;p34"/>
          <p:cNvSpPr/>
          <p:nvPr/>
        </p:nvSpPr>
        <p:spPr>
          <a:xfrm>
            <a:off x="435769" y="2141004"/>
            <a:ext cx="10392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34"/>
          <p:cNvSpPr/>
          <p:nvPr/>
        </p:nvSpPr>
        <p:spPr>
          <a:xfrm>
            <a:off x="1475072" y="2141004"/>
            <a:ext cx="16230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4"/>
          <p:cNvSpPr/>
          <p:nvPr/>
        </p:nvSpPr>
        <p:spPr>
          <a:xfrm>
            <a:off x="3098043" y="2141004"/>
            <a:ext cx="1252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2" name="Google Shape;242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1768859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2308882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2848905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3388928"/>
            <a:ext cx="71438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3928951"/>
            <a:ext cx="71438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4"/>
          <p:cNvSpPr/>
          <p:nvPr/>
        </p:nvSpPr>
        <p:spPr>
          <a:xfrm>
            <a:off x="435769" y="2519623"/>
            <a:ext cx="10392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4"/>
          <p:cNvSpPr/>
          <p:nvPr/>
        </p:nvSpPr>
        <p:spPr>
          <a:xfrm>
            <a:off x="1475072" y="2519623"/>
            <a:ext cx="16230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4"/>
          <p:cNvSpPr/>
          <p:nvPr/>
        </p:nvSpPr>
        <p:spPr>
          <a:xfrm>
            <a:off x="3098043" y="2519623"/>
            <a:ext cx="1252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4"/>
          <p:cNvSpPr/>
          <p:nvPr/>
        </p:nvSpPr>
        <p:spPr>
          <a:xfrm>
            <a:off x="435769" y="2898242"/>
            <a:ext cx="10392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4"/>
          <p:cNvSpPr/>
          <p:nvPr/>
        </p:nvSpPr>
        <p:spPr>
          <a:xfrm>
            <a:off x="1475072" y="2898242"/>
            <a:ext cx="16230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4"/>
          <p:cNvSpPr/>
          <p:nvPr/>
        </p:nvSpPr>
        <p:spPr>
          <a:xfrm>
            <a:off x="3098043" y="2898242"/>
            <a:ext cx="1252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4"/>
          <p:cNvSpPr/>
          <p:nvPr/>
        </p:nvSpPr>
        <p:spPr>
          <a:xfrm>
            <a:off x="435769" y="3276860"/>
            <a:ext cx="10392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4"/>
          <p:cNvSpPr/>
          <p:nvPr/>
        </p:nvSpPr>
        <p:spPr>
          <a:xfrm>
            <a:off x="1475072" y="3276860"/>
            <a:ext cx="16230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4"/>
          <p:cNvSpPr/>
          <p:nvPr/>
        </p:nvSpPr>
        <p:spPr>
          <a:xfrm>
            <a:off x="3098043" y="3276860"/>
            <a:ext cx="1252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34"/>
          <p:cNvSpPr/>
          <p:nvPr/>
        </p:nvSpPr>
        <p:spPr>
          <a:xfrm>
            <a:off x="435769" y="3655479"/>
            <a:ext cx="10392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4"/>
          <p:cNvSpPr/>
          <p:nvPr/>
        </p:nvSpPr>
        <p:spPr>
          <a:xfrm>
            <a:off x="1475072" y="3655479"/>
            <a:ext cx="16230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4"/>
          <p:cNvSpPr/>
          <p:nvPr/>
        </p:nvSpPr>
        <p:spPr>
          <a:xfrm>
            <a:off x="3098043" y="3655479"/>
            <a:ext cx="12525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4"/>
          <p:cNvSpPr txBox="1"/>
          <p:nvPr/>
        </p:nvSpPr>
        <p:spPr>
          <a:xfrm>
            <a:off x="428625" y="471488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Sample Predictions &amp; Feature Importance</a:t>
            </a:r>
            <a:endParaRPr sz="1100"/>
          </a:p>
        </p:txBody>
      </p:sp>
      <p:sp>
        <p:nvSpPr>
          <p:cNvPr id="260" name="Google Shape;260;p34"/>
          <p:cNvSpPr/>
          <p:nvPr/>
        </p:nvSpPr>
        <p:spPr>
          <a:xfrm>
            <a:off x="428625" y="992981"/>
            <a:ext cx="82869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353740"/>
            <a:ext cx="2619412" cy="3300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2349" y="1353740"/>
            <a:ext cx="2619412" cy="33004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74" y="1353740"/>
            <a:ext cx="2619412" cy="330041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5"/>
          <p:cNvSpPr/>
          <p:nvPr/>
        </p:nvSpPr>
        <p:spPr>
          <a:xfrm>
            <a:off x="0" y="0"/>
            <a:ext cx="9144000" cy="429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081" y="157519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5"/>
          <p:cNvSpPr txBox="1"/>
          <p:nvPr/>
        </p:nvSpPr>
        <p:spPr>
          <a:xfrm>
            <a:off x="650081" y="2289572"/>
            <a:ext cx="1732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Achievements</a:t>
            </a:r>
            <a:endParaRPr sz="1100"/>
          </a:p>
        </p:txBody>
      </p:sp>
      <p:pic>
        <p:nvPicPr>
          <p:cNvPr descr="image.png" id="272" name="Google Shape;272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3805" y="157519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 txBox="1"/>
          <p:nvPr/>
        </p:nvSpPr>
        <p:spPr>
          <a:xfrm>
            <a:off x="3483806" y="2289572"/>
            <a:ext cx="105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sz="1100"/>
          </a:p>
        </p:txBody>
      </p:sp>
      <p:sp>
        <p:nvSpPr>
          <p:cNvPr id="274" name="Google Shape;274;p35"/>
          <p:cNvSpPr txBox="1"/>
          <p:nvPr/>
        </p:nvSpPr>
        <p:spPr>
          <a:xfrm>
            <a:off x="3483806" y="2646759"/>
            <a:ext cx="2176500" cy="19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900" u="none" cap="none" strike="noStrike">
                <a:solidFill>
                  <a:srgbClr val="E0F2FE"/>
                </a:solidFill>
                <a:latin typeface="Inter"/>
                <a:ea typeface="Inter"/>
                <a:cs typeface="Inter"/>
                <a:sym typeface="Inter"/>
              </a:rPr>
              <a:t>The proposed framework effectively combines dermoscopic images and patient metadata for skin cancer classification. By achieving a solid baseline performance on the highly complex MILK10K dataset, it strongly demonstrates the high potential of multimodal AI in early dermatological diagnosis.</a:t>
            </a:r>
            <a:endParaRPr sz="1100"/>
          </a:p>
        </p:txBody>
      </p:sp>
      <p:pic>
        <p:nvPicPr>
          <p:cNvPr descr="image.png" id="275" name="Google Shape;275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17530" y="157519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5"/>
          <p:cNvSpPr txBox="1"/>
          <p:nvPr/>
        </p:nvSpPr>
        <p:spPr>
          <a:xfrm>
            <a:off x="6317530" y="2289572"/>
            <a:ext cx="1215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Future Scope</a:t>
            </a:r>
            <a:endParaRPr sz="1100"/>
          </a:p>
        </p:txBody>
      </p:sp>
      <p:pic>
        <p:nvPicPr>
          <p:cNvPr descr="image.png" id="277" name="Google Shape;277;p3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75097" y="1718072"/>
            <a:ext cx="321469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5"/>
          <p:cNvSpPr txBox="1"/>
          <p:nvPr/>
        </p:nvSpPr>
        <p:spPr>
          <a:xfrm>
            <a:off x="735806" y="2718197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279" name="Google Shape;279;p35"/>
          <p:cNvSpPr txBox="1"/>
          <p:nvPr/>
        </p:nvSpPr>
        <p:spPr>
          <a:xfrm>
            <a:off x="792956" y="2718197"/>
            <a:ext cx="203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Successfully implemented multimodal learning using images and metadata.</a:t>
            </a:r>
            <a:endParaRPr sz="1100"/>
          </a:p>
        </p:txBody>
      </p:sp>
      <p:sp>
        <p:nvSpPr>
          <p:cNvPr id="280" name="Google Shape;280;p35"/>
          <p:cNvSpPr txBox="1"/>
          <p:nvPr/>
        </p:nvSpPr>
        <p:spPr>
          <a:xfrm>
            <a:off x="735806" y="3118247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281" name="Google Shape;281;p35"/>
          <p:cNvSpPr txBox="1"/>
          <p:nvPr/>
        </p:nvSpPr>
        <p:spPr>
          <a:xfrm>
            <a:off x="792956" y="3118246"/>
            <a:ext cx="203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Effective EfficientNetV2-M feature extraction.</a:t>
            </a:r>
            <a:endParaRPr sz="1100"/>
          </a:p>
        </p:txBody>
      </p:sp>
      <p:sp>
        <p:nvSpPr>
          <p:cNvPr id="282" name="Google Shape;282;p35"/>
          <p:cNvSpPr txBox="1"/>
          <p:nvPr/>
        </p:nvSpPr>
        <p:spPr>
          <a:xfrm>
            <a:off x="735806" y="3518296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283" name="Google Shape;283;p35"/>
          <p:cNvSpPr txBox="1"/>
          <p:nvPr/>
        </p:nvSpPr>
        <p:spPr>
          <a:xfrm>
            <a:off x="792956" y="3518296"/>
            <a:ext cx="203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Robust classification spanning 11 diverse skin lesion categories.</a:t>
            </a:r>
            <a:endParaRPr sz="1100"/>
          </a:p>
        </p:txBody>
      </p:sp>
      <p:sp>
        <p:nvSpPr>
          <p:cNvPr id="284" name="Google Shape;284;p35"/>
          <p:cNvSpPr txBox="1"/>
          <p:nvPr/>
        </p:nvSpPr>
        <p:spPr>
          <a:xfrm>
            <a:off x="735806" y="3918347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285" name="Google Shape;285;p35"/>
          <p:cNvSpPr txBox="1"/>
          <p:nvPr/>
        </p:nvSpPr>
        <p:spPr>
          <a:xfrm>
            <a:off x="792956" y="3918347"/>
            <a:ext cx="203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Achieved a 3-Fold Cross Validation Mean F1-Score of </a:t>
            </a:r>
            <a:r>
              <a:rPr b="1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0.4941</a:t>
            </a: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pic>
        <p:nvPicPr>
          <p:cNvPr descr="image.png" id="286" name="Google Shape;286;p3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644540" y="1718072"/>
            <a:ext cx="25003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3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496124" y="1718072"/>
            <a:ext cx="214313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5"/>
          <p:cNvSpPr txBox="1"/>
          <p:nvPr/>
        </p:nvSpPr>
        <p:spPr>
          <a:xfrm>
            <a:off x="6403256" y="2718197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289" name="Google Shape;289;p35"/>
          <p:cNvSpPr txBox="1"/>
          <p:nvPr/>
        </p:nvSpPr>
        <p:spPr>
          <a:xfrm>
            <a:off x="6460405" y="2718197"/>
            <a:ext cx="203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Integration of advanced Vision Transformers (ViT).</a:t>
            </a:r>
            <a:endParaRPr sz="1100"/>
          </a:p>
        </p:txBody>
      </p:sp>
      <p:sp>
        <p:nvSpPr>
          <p:cNvPr id="290" name="Google Shape;290;p35"/>
          <p:cNvSpPr txBox="1"/>
          <p:nvPr/>
        </p:nvSpPr>
        <p:spPr>
          <a:xfrm>
            <a:off x="6403256" y="3118247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291" name="Google Shape;291;p35"/>
          <p:cNvSpPr txBox="1"/>
          <p:nvPr/>
        </p:nvSpPr>
        <p:spPr>
          <a:xfrm>
            <a:off x="6460405" y="3118246"/>
            <a:ext cx="203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Utilization of larger, more diverse dermatology datasets.</a:t>
            </a:r>
            <a:endParaRPr sz="1100"/>
          </a:p>
        </p:txBody>
      </p:sp>
      <p:sp>
        <p:nvSpPr>
          <p:cNvPr id="292" name="Google Shape;292;p35"/>
          <p:cNvSpPr txBox="1"/>
          <p:nvPr/>
        </p:nvSpPr>
        <p:spPr>
          <a:xfrm>
            <a:off x="6403256" y="3518296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293" name="Google Shape;293;p35"/>
          <p:cNvSpPr txBox="1"/>
          <p:nvPr/>
        </p:nvSpPr>
        <p:spPr>
          <a:xfrm>
            <a:off x="6460405" y="3518296"/>
            <a:ext cx="203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Development of Explainable AI (XAI) diagnostic systems.</a:t>
            </a:r>
            <a:endParaRPr sz="1100"/>
          </a:p>
        </p:txBody>
      </p:sp>
      <p:sp>
        <p:nvSpPr>
          <p:cNvPr id="294" name="Google Shape;294;p35"/>
          <p:cNvSpPr txBox="1"/>
          <p:nvPr/>
        </p:nvSpPr>
        <p:spPr>
          <a:xfrm>
            <a:off x="6403256" y="3918347"/>
            <a:ext cx="57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sz="1100"/>
          </a:p>
        </p:txBody>
      </p:sp>
      <p:sp>
        <p:nvSpPr>
          <p:cNvPr id="295" name="Google Shape;295;p35"/>
          <p:cNvSpPr txBox="1"/>
          <p:nvPr/>
        </p:nvSpPr>
        <p:spPr>
          <a:xfrm>
            <a:off x="6460405" y="3918347"/>
            <a:ext cx="2033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71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Real-time clinical decision support and EHR integration.</a:t>
            </a:r>
            <a:endParaRPr sz="1100"/>
          </a:p>
        </p:txBody>
      </p:sp>
      <p:sp>
        <p:nvSpPr>
          <p:cNvPr id="296" name="Google Shape;296;p35"/>
          <p:cNvSpPr txBox="1"/>
          <p:nvPr/>
        </p:nvSpPr>
        <p:spPr>
          <a:xfrm>
            <a:off x="428625" y="471488"/>
            <a:ext cx="8701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Achievements &amp; Future Scope</a:t>
            </a:r>
            <a:endParaRPr sz="1100"/>
          </a:p>
        </p:txBody>
      </p:sp>
      <p:sp>
        <p:nvSpPr>
          <p:cNvPr id="297" name="Google Shape;297;p35"/>
          <p:cNvSpPr/>
          <p:nvPr/>
        </p:nvSpPr>
        <p:spPr>
          <a:xfrm>
            <a:off x="428625" y="992981"/>
            <a:ext cx="8286900" cy="144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